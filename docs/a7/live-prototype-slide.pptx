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C0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7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57200"/>
            <a:ext cx="1691640" cy="798567"/>
          </a:xfrm>
          <a:prstGeom prst="rect">
            <a:avLst/>
          </a:prstGeom>
        </p:spPr>
      </p:pic>
      <p:pic>
        <p:nvPicPr>
          <p:cNvPr id="4" name="Picture 3" descr="hand-phone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77240"/>
            <a:ext cx="3950208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74920" y="9601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Arial"/>
              </a:rPr>
              <a:t>Prototype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874519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41414"/>
                </a:solidFill>
                <a:latin typeface="Arial"/>
              </a:rPr>
              <a:t>Prototype Features Demonstrated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237744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CC008D"/>
                </a:solidFill>
                <a:latin typeface="Arial"/>
              </a:rPr>
              <a:t>◆  </a:t>
            </a:r>
            <a:r>
              <a:rPr sz="1250">
                <a:solidFill>
                  <a:srgbClr val="1A1A1A"/>
                </a:solidFill>
                <a:latin typeface="Arial"/>
              </a:rPr>
              <a:t>3D warehouse hub and module selection screen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CC008D"/>
                </a:solidFill>
                <a:latin typeface="Arial"/>
              </a:rPr>
              <a:t>◆  </a:t>
            </a:r>
            <a:r>
              <a:rPr sz="1250">
                <a:solidFill>
                  <a:srgbClr val="1A1A1A"/>
                </a:solidFill>
                <a:latin typeface="Arial"/>
              </a:rPr>
              <a:t>Interactive 360° practical activity (hazard spotting)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CC008D"/>
                </a:solidFill>
                <a:latin typeface="Arial"/>
              </a:rPr>
              <a:t>◆  </a:t>
            </a:r>
            <a:r>
              <a:rPr sz="1250">
                <a:solidFill>
                  <a:srgbClr val="1A1A1A"/>
                </a:solidFill>
                <a:latin typeface="Arial"/>
              </a:rPr>
              <a:t>Timed quiz and decision-based challenge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CC008D"/>
                </a:solidFill>
                <a:latin typeface="Arial"/>
              </a:rPr>
              <a:t>◆  </a:t>
            </a:r>
            <a:r>
              <a:rPr sz="1250">
                <a:solidFill>
                  <a:srgbClr val="1A1A1A"/>
                </a:solidFill>
                <a:latin typeface="Arial"/>
              </a:rPr>
              <a:t>Score feedback, retake and completion 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457200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 b="0">
                <a:solidFill>
                  <a:srgbClr val="595959"/>
                </a:solidFill>
                <a:latin typeface="Arial"/>
              </a:rPr>
              <a:t>The prototype focuses on validating </a:t>
            </a:r>
            <a:r>
              <a:rPr sz="1150" i="1" b="1">
                <a:solidFill>
                  <a:srgbClr val="141414"/>
                </a:solidFill>
                <a:latin typeface="Arial"/>
              </a:rPr>
              <a:t>interaction concepts</a:t>
            </a:r>
            <a:r>
              <a:rPr sz="1150" i="1" b="0">
                <a:solidFill>
                  <a:srgbClr val="595959"/>
                </a:solidFill>
                <a:latin typeface="Arial"/>
              </a:rPr>
              <a:t>, not full system deployment.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C0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7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57200"/>
            <a:ext cx="1691640" cy="7985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" y="566928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Arial"/>
              </a:rPr>
              <a:t>Live Prototype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41414"/>
                </a:solidFill>
                <a:latin typeface="Arial"/>
              </a:rPr>
              <a:t>Demonstration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874519"/>
            <a:ext cx="5394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50">
                <a:solidFill>
                  <a:srgbClr val="CC008D"/>
                </a:solidFill>
                <a:latin typeface="Arial"/>
              </a:rPr>
              <a:t>◆  </a:t>
            </a:r>
            <a:r>
              <a:rPr sz="1150">
                <a:solidFill>
                  <a:srgbClr val="1A1A1A"/>
                </a:solidFill>
                <a:latin typeface="Arial"/>
              </a:rPr>
              <a:t>Launch the Zero Incident Safety Training Simulator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CC008D"/>
                </a:solidFill>
                <a:latin typeface="Arial"/>
              </a:rPr>
              <a:t>◆  </a:t>
            </a:r>
            <a:r>
              <a:rPr sz="1150">
                <a:solidFill>
                  <a:srgbClr val="1A1A1A"/>
                </a:solidFill>
                <a:latin typeface="Arial"/>
              </a:rPr>
              <a:t>Sign in as an employee (demo account, auto-filled)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CC008D"/>
                </a:solidFill>
                <a:latin typeface="Arial"/>
              </a:rPr>
              <a:t>◆  </a:t>
            </a:r>
            <a:r>
              <a:rPr sz="1150">
                <a:solidFill>
                  <a:srgbClr val="1A1A1A"/>
                </a:solidFill>
                <a:latin typeface="Arial"/>
              </a:rPr>
              <a:t>Enter the walkable 3D warehouse training hub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CC008D"/>
                </a:solidFill>
                <a:latin typeface="Arial"/>
              </a:rPr>
              <a:t>◆  </a:t>
            </a:r>
            <a:r>
              <a:rPr sz="1150">
                <a:solidFill>
                  <a:srgbClr val="1A1A1A"/>
                </a:solidFill>
                <a:latin typeface="Arial"/>
              </a:rPr>
              <a:t>Open a module door and complete the 360° practical activity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CC008D"/>
                </a:solidFill>
                <a:latin typeface="Arial"/>
              </a:rPr>
              <a:t>◆  </a:t>
            </a:r>
            <a:r>
              <a:rPr sz="1150">
                <a:solidFill>
                  <a:srgbClr val="1A1A1A"/>
                </a:solidFill>
                <a:latin typeface="Arial"/>
              </a:rPr>
              <a:t>Answer the timed quiz and decision prompts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CC008D"/>
                </a:solidFill>
                <a:latin typeface="Arial"/>
              </a:rPr>
              <a:t>◆  </a:t>
            </a:r>
            <a:r>
              <a:rPr sz="1150">
                <a:solidFill>
                  <a:srgbClr val="1A1A1A"/>
                </a:solidFill>
                <a:latin typeface="Arial"/>
              </a:rPr>
              <a:t>View score, retake route and completion certificate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CC008D"/>
                </a:solidFill>
                <a:latin typeface="Arial"/>
              </a:rPr>
              <a:t>◆  </a:t>
            </a:r>
            <a:r>
              <a:rPr sz="1150">
                <a:solidFill>
                  <a:srgbClr val="1A1A1A"/>
                </a:solidFill>
                <a:latin typeface="Arial"/>
              </a:rPr>
              <a:t>This demonstrates the system's usability and engagement potential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3492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Arial"/>
              </a:rPr>
              <a:t>Demo file: demo.html - double-click to open in any browser (no server, no internet needed).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68756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Arial"/>
              </a:rPr>
              <a:t>Live system: npm start, then open http://localhost:3000  (demo account: ramesh.s / Welcome!2026)</a:t>
            </a:r>
          </a:p>
        </p:txBody>
      </p:sp>
      <p:pic>
        <p:nvPicPr>
          <p:cNvPr id="9" name="Picture 8" descr="slide-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81328"/>
            <a:ext cx="5074920" cy="32294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9560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Arial"/>
              </a:rPr>
              <a:t>3D training hub - demo.html (interactive)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